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8" r:id="rId9"/>
    <p:sldId id="271" r:id="rId10"/>
    <p:sldId id="272" r:id="rId11"/>
    <p:sldId id="281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73" r:id="rId27"/>
    <p:sldId id="274" r:id="rId28"/>
    <p:sldId id="275" r:id="rId29"/>
    <p:sldId id="297" r:id="rId30"/>
    <p:sldId id="277" r:id="rId31"/>
    <p:sldId id="278" r:id="rId32"/>
    <p:sldId id="279" r:id="rId33"/>
    <p:sldId id="299" r:id="rId34"/>
    <p:sldId id="280" r:id="rId35"/>
    <p:sldId id="265" r:id="rId36"/>
    <p:sldId id="266" r:id="rId37"/>
    <p:sldId id="270" r:id="rId38"/>
    <p:sldId id="267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35"/>
  </p:normalViewPr>
  <p:slideViewPr>
    <p:cSldViewPr>
      <p:cViewPr>
        <p:scale>
          <a:sx n="75" d="100"/>
          <a:sy n="75" d="100"/>
        </p:scale>
        <p:origin x="1176" y="8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4720335" y="0"/>
                </a:moveTo>
                <a:lnTo>
                  <a:pt x="226567" y="0"/>
                </a:lnTo>
                <a:lnTo>
                  <a:pt x="180916" y="4604"/>
                </a:lnTo>
                <a:lnTo>
                  <a:pt x="138392" y="17809"/>
                </a:lnTo>
                <a:lnTo>
                  <a:pt x="99907" y="38703"/>
                </a:lnTo>
                <a:lnTo>
                  <a:pt x="66373" y="66373"/>
                </a:lnTo>
                <a:lnTo>
                  <a:pt x="38703" y="99907"/>
                </a:lnTo>
                <a:lnTo>
                  <a:pt x="17809" y="138392"/>
                </a:lnTo>
                <a:lnTo>
                  <a:pt x="4604" y="180916"/>
                </a:lnTo>
                <a:lnTo>
                  <a:pt x="0" y="226567"/>
                </a:lnTo>
                <a:lnTo>
                  <a:pt x="0" y="1132839"/>
                </a:lnTo>
                <a:lnTo>
                  <a:pt x="4604" y="1178491"/>
                </a:lnTo>
                <a:lnTo>
                  <a:pt x="17809" y="1221015"/>
                </a:lnTo>
                <a:lnTo>
                  <a:pt x="38703" y="1259500"/>
                </a:lnTo>
                <a:lnTo>
                  <a:pt x="66373" y="1293034"/>
                </a:lnTo>
                <a:lnTo>
                  <a:pt x="99907" y="1320704"/>
                </a:lnTo>
                <a:lnTo>
                  <a:pt x="138392" y="1341598"/>
                </a:lnTo>
                <a:lnTo>
                  <a:pt x="180916" y="1354803"/>
                </a:lnTo>
                <a:lnTo>
                  <a:pt x="226567" y="1359407"/>
                </a:lnTo>
                <a:lnTo>
                  <a:pt x="4720335" y="1359407"/>
                </a:lnTo>
                <a:lnTo>
                  <a:pt x="4765987" y="1354803"/>
                </a:lnTo>
                <a:lnTo>
                  <a:pt x="4808511" y="1341598"/>
                </a:lnTo>
                <a:lnTo>
                  <a:pt x="4846996" y="1320704"/>
                </a:lnTo>
                <a:lnTo>
                  <a:pt x="4880530" y="1293034"/>
                </a:lnTo>
                <a:lnTo>
                  <a:pt x="4908200" y="1259500"/>
                </a:lnTo>
                <a:lnTo>
                  <a:pt x="4929094" y="1221015"/>
                </a:lnTo>
                <a:lnTo>
                  <a:pt x="4942299" y="1178491"/>
                </a:lnTo>
                <a:lnTo>
                  <a:pt x="4946904" y="1132839"/>
                </a:lnTo>
                <a:lnTo>
                  <a:pt x="4946904" y="226567"/>
                </a:lnTo>
                <a:lnTo>
                  <a:pt x="4942299" y="180916"/>
                </a:lnTo>
                <a:lnTo>
                  <a:pt x="4929094" y="138392"/>
                </a:lnTo>
                <a:lnTo>
                  <a:pt x="4908200" y="99907"/>
                </a:lnTo>
                <a:lnTo>
                  <a:pt x="4880530" y="66373"/>
                </a:lnTo>
                <a:lnTo>
                  <a:pt x="4846996" y="38703"/>
                </a:lnTo>
                <a:lnTo>
                  <a:pt x="4808511" y="17809"/>
                </a:lnTo>
                <a:lnTo>
                  <a:pt x="4765987" y="4604"/>
                </a:lnTo>
                <a:lnTo>
                  <a:pt x="47203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736848" y="2618231"/>
            <a:ext cx="4947285" cy="1359535"/>
          </a:xfrm>
          <a:custGeom>
            <a:avLst/>
            <a:gdLst/>
            <a:ahLst/>
            <a:cxnLst/>
            <a:rect l="l" t="t" r="r" b="b"/>
            <a:pathLst>
              <a:path w="4947284" h="1359535">
                <a:moveTo>
                  <a:pt x="0" y="226567"/>
                </a:moveTo>
                <a:lnTo>
                  <a:pt x="4604" y="180916"/>
                </a:lnTo>
                <a:lnTo>
                  <a:pt x="17809" y="138392"/>
                </a:lnTo>
                <a:lnTo>
                  <a:pt x="38703" y="99907"/>
                </a:lnTo>
                <a:lnTo>
                  <a:pt x="66373" y="66373"/>
                </a:lnTo>
                <a:lnTo>
                  <a:pt x="99907" y="38703"/>
                </a:lnTo>
                <a:lnTo>
                  <a:pt x="138392" y="17809"/>
                </a:lnTo>
                <a:lnTo>
                  <a:pt x="180916" y="4604"/>
                </a:lnTo>
                <a:lnTo>
                  <a:pt x="226567" y="0"/>
                </a:lnTo>
                <a:lnTo>
                  <a:pt x="4720335" y="0"/>
                </a:lnTo>
                <a:lnTo>
                  <a:pt x="4765987" y="4604"/>
                </a:lnTo>
                <a:lnTo>
                  <a:pt x="4808511" y="17809"/>
                </a:lnTo>
                <a:lnTo>
                  <a:pt x="4846996" y="38703"/>
                </a:lnTo>
                <a:lnTo>
                  <a:pt x="4880530" y="66373"/>
                </a:lnTo>
                <a:lnTo>
                  <a:pt x="4908200" y="99907"/>
                </a:lnTo>
                <a:lnTo>
                  <a:pt x="4929094" y="138392"/>
                </a:lnTo>
                <a:lnTo>
                  <a:pt x="4942299" y="180916"/>
                </a:lnTo>
                <a:lnTo>
                  <a:pt x="4946904" y="226567"/>
                </a:lnTo>
                <a:lnTo>
                  <a:pt x="4946904" y="1132839"/>
                </a:lnTo>
                <a:lnTo>
                  <a:pt x="4942299" y="1178491"/>
                </a:lnTo>
                <a:lnTo>
                  <a:pt x="4929094" y="1221015"/>
                </a:lnTo>
                <a:lnTo>
                  <a:pt x="4908200" y="1259500"/>
                </a:lnTo>
                <a:lnTo>
                  <a:pt x="4880530" y="1293034"/>
                </a:lnTo>
                <a:lnTo>
                  <a:pt x="4846996" y="1320704"/>
                </a:lnTo>
                <a:lnTo>
                  <a:pt x="4808511" y="1341598"/>
                </a:lnTo>
                <a:lnTo>
                  <a:pt x="4765987" y="1354803"/>
                </a:lnTo>
                <a:lnTo>
                  <a:pt x="4720335" y="1359407"/>
                </a:lnTo>
                <a:lnTo>
                  <a:pt x="226567" y="1359407"/>
                </a:lnTo>
                <a:lnTo>
                  <a:pt x="180916" y="1354803"/>
                </a:lnTo>
                <a:lnTo>
                  <a:pt x="138392" y="1341598"/>
                </a:lnTo>
                <a:lnTo>
                  <a:pt x="99907" y="1320704"/>
                </a:lnTo>
                <a:lnTo>
                  <a:pt x="66373" y="1293034"/>
                </a:lnTo>
                <a:lnTo>
                  <a:pt x="38703" y="1259500"/>
                </a:lnTo>
                <a:lnTo>
                  <a:pt x="17809" y="1221015"/>
                </a:lnTo>
                <a:lnTo>
                  <a:pt x="4604" y="1178491"/>
                </a:lnTo>
                <a:lnTo>
                  <a:pt x="0" y="1132839"/>
                </a:lnTo>
                <a:lnTo>
                  <a:pt x="0" y="226567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E4D5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19"/>
            <a:ext cx="2103120" cy="8991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002280" cy="30022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812279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19"/>
                </a:lnTo>
                <a:lnTo>
                  <a:pt x="12192000" y="457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924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43881" y="202514"/>
            <a:ext cx="2904236" cy="51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2748" y="2067509"/>
            <a:ext cx="8503920" cy="4641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3308" y="393649"/>
            <a:ext cx="7165340" cy="1185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268855" marR="5080" indent="-2256155">
              <a:lnSpc>
                <a:spcPts val="4320"/>
              </a:lnSpc>
              <a:spcBef>
                <a:spcPts val="655"/>
              </a:spcBef>
            </a:pPr>
            <a:r>
              <a:rPr sz="4000" dirty="0">
                <a:solidFill>
                  <a:srgbClr val="C00000"/>
                </a:solidFill>
              </a:rPr>
              <a:t>Data</a:t>
            </a:r>
            <a:r>
              <a:rPr sz="4000" spc="-60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Structures</a:t>
            </a:r>
            <a:r>
              <a:rPr sz="4000" spc="-10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and</a:t>
            </a:r>
            <a:r>
              <a:rPr sz="4000" spc="-85" dirty="0">
                <a:solidFill>
                  <a:srgbClr val="C00000"/>
                </a:solidFill>
              </a:rPr>
              <a:t> </a:t>
            </a:r>
            <a:r>
              <a:rPr sz="4000" dirty="0">
                <a:solidFill>
                  <a:srgbClr val="C00000"/>
                </a:solidFill>
              </a:rPr>
              <a:t>Algorithms</a:t>
            </a:r>
            <a:r>
              <a:rPr sz="4000" spc="-40" dirty="0">
                <a:solidFill>
                  <a:srgbClr val="C00000"/>
                </a:solidFill>
              </a:rPr>
              <a:t> </a:t>
            </a:r>
            <a:r>
              <a:rPr sz="4000" spc="-10" dirty="0">
                <a:solidFill>
                  <a:srgbClr val="C00000"/>
                </a:solidFill>
              </a:rPr>
              <a:t>-</a:t>
            </a:r>
            <a:r>
              <a:rPr sz="4000" spc="-50" dirty="0">
                <a:solidFill>
                  <a:srgbClr val="C00000"/>
                </a:solidFill>
              </a:rPr>
              <a:t>3 </a:t>
            </a:r>
            <a:r>
              <a:rPr sz="4000" spc="-10" dirty="0">
                <a:solidFill>
                  <a:srgbClr val="C00000"/>
                </a:solidFill>
              </a:rPr>
              <a:t>(25CS2103E)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ts val="3030"/>
              </a:lnSpc>
              <a:spcBef>
                <a:spcPts val="484"/>
              </a:spcBef>
            </a:pPr>
            <a:r>
              <a:rPr dirty="0"/>
              <a:t>RouteOpt:</a:t>
            </a:r>
            <a:r>
              <a:rPr spc="-10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Data-</a:t>
            </a:r>
            <a:r>
              <a:rPr dirty="0"/>
              <a:t>Cleaning</a:t>
            </a:r>
            <a:r>
              <a:rPr spc="-12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Approximation</a:t>
            </a:r>
            <a:r>
              <a:rPr spc="-60" dirty="0"/>
              <a:t> </a:t>
            </a:r>
            <a:r>
              <a:rPr dirty="0"/>
              <a:t>Engine</a:t>
            </a:r>
            <a:r>
              <a:rPr spc="-95" dirty="0"/>
              <a:t> </a:t>
            </a:r>
            <a:r>
              <a:rPr spc="-25" dirty="0"/>
              <a:t>for </a:t>
            </a:r>
            <a:r>
              <a:rPr dirty="0"/>
              <a:t>Capacitated</a:t>
            </a:r>
            <a:r>
              <a:rPr spc="-55" dirty="0"/>
              <a:t> </a:t>
            </a:r>
            <a:r>
              <a:rPr spc="-10" dirty="0"/>
              <a:t>Multi-</a:t>
            </a:r>
            <a:r>
              <a:rPr spc="-20" dirty="0"/>
              <a:t>Vehicle</a:t>
            </a:r>
            <a:r>
              <a:rPr spc="-95" dirty="0"/>
              <a:t> </a:t>
            </a:r>
            <a:r>
              <a:rPr dirty="0"/>
              <a:t>Route</a:t>
            </a:r>
            <a:r>
              <a:rPr spc="-80" dirty="0"/>
              <a:t> </a:t>
            </a:r>
            <a:r>
              <a:rPr spc="-10" dirty="0"/>
              <a:t>Optimization</a:t>
            </a:r>
            <a:r>
              <a:rPr spc="-10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20" dirty="0"/>
              <a:t>Time </a:t>
            </a:r>
            <a:r>
              <a:rPr spc="-10" dirty="0"/>
              <a:t>Windows</a:t>
            </a:r>
          </a:p>
          <a:p>
            <a:pPr marL="224790" algn="ctr">
              <a:lnSpc>
                <a:spcPct val="100000"/>
              </a:lnSpc>
              <a:spcBef>
                <a:spcPts val="1750"/>
              </a:spcBef>
            </a:pPr>
            <a:r>
              <a:rPr sz="2400" b="0" spc="-45" dirty="0">
                <a:solidFill>
                  <a:srgbClr val="006FC0"/>
                </a:solidFill>
                <a:latin typeface="Calibri"/>
                <a:cs typeface="Calibri"/>
              </a:rPr>
              <a:t>Team</a:t>
            </a:r>
            <a:r>
              <a:rPr sz="2400" b="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Members</a:t>
            </a:r>
            <a:endParaRPr sz="2400" dirty="0">
              <a:latin typeface="Calibri"/>
              <a:cs typeface="Calibri"/>
            </a:endParaRPr>
          </a:p>
          <a:p>
            <a:pPr marL="224154" algn="ctr">
              <a:lnSpc>
                <a:spcPct val="100000"/>
              </a:lnSpc>
              <a:spcBef>
                <a:spcPts val="70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Sai</a:t>
            </a:r>
            <a:r>
              <a:rPr sz="2400" b="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Rohit</a:t>
            </a:r>
            <a:r>
              <a:rPr sz="2400" b="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(252009091)</a:t>
            </a:r>
            <a:endParaRPr sz="2400" dirty="0">
              <a:latin typeface="Calibri"/>
              <a:cs typeface="Calibri"/>
            </a:endParaRPr>
          </a:p>
          <a:p>
            <a:pPr marL="222885" algn="ctr">
              <a:lnSpc>
                <a:spcPct val="100000"/>
              </a:lnSpc>
              <a:spcBef>
                <a:spcPts val="720"/>
              </a:spcBef>
            </a:pP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Surendra</a:t>
            </a:r>
            <a:r>
              <a:rPr sz="2400" b="0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(2520090142)</a:t>
            </a:r>
            <a:endParaRPr sz="2400" dirty="0">
              <a:latin typeface="Calibri"/>
              <a:cs typeface="Calibri"/>
            </a:endParaRPr>
          </a:p>
          <a:p>
            <a:pPr marL="220979" algn="ctr">
              <a:lnSpc>
                <a:spcPct val="100000"/>
              </a:lnSpc>
              <a:spcBef>
                <a:spcPts val="720"/>
              </a:spcBef>
            </a:pPr>
            <a:r>
              <a:rPr sz="2400" b="0" dirty="0">
                <a:solidFill>
                  <a:srgbClr val="006FC0"/>
                </a:solidFill>
                <a:latin typeface="Calibri"/>
                <a:cs typeface="Calibri"/>
              </a:rPr>
              <a:t>Akash</a:t>
            </a:r>
            <a:r>
              <a:rPr sz="2400" b="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6FC0"/>
                </a:solidFill>
                <a:latin typeface="Calibri"/>
                <a:cs typeface="Calibri"/>
              </a:rPr>
              <a:t>(2520090127)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400" dirty="0">
              <a:latin typeface="Calibri"/>
              <a:cs typeface="Calibri"/>
            </a:endParaRPr>
          </a:p>
          <a:p>
            <a:pPr marL="396240" algn="ctr">
              <a:lnSpc>
                <a:spcPct val="100000"/>
              </a:lnSpc>
            </a:pP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Under</a:t>
            </a:r>
            <a:r>
              <a:rPr sz="1800" b="0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80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Esteemed</a:t>
            </a:r>
            <a:r>
              <a:rPr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Guidance</a:t>
            </a:r>
            <a:r>
              <a:rPr sz="18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endParaRPr sz="1800" dirty="0">
              <a:latin typeface="Times New Roman"/>
              <a:cs typeface="Times New Roman"/>
            </a:endParaRPr>
          </a:p>
          <a:p>
            <a:pPr marL="224790" algn="ctr">
              <a:lnSpc>
                <a:spcPct val="100000"/>
              </a:lnSpc>
              <a:spcBef>
                <a:spcPts val="1945"/>
              </a:spcBef>
            </a:pPr>
            <a:r>
              <a:rPr lang="en-IN" sz="1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Assistant Professor, </a:t>
            </a:r>
            <a:r>
              <a:rPr sz="18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Dr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1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Dyuti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 smtClean="0">
                <a:solidFill>
                  <a:srgbClr val="000000"/>
                </a:solidFill>
                <a:latin typeface="Times New Roman"/>
                <a:cs typeface="Times New Roman"/>
              </a:rPr>
              <a:t>Banerjee</a:t>
            </a:r>
            <a:r>
              <a:rPr lang="en-IN" sz="1800" spc="-10" dirty="0" smtClean="0">
                <a:solidFill>
                  <a:srgbClr val="000000"/>
                </a:solidFill>
                <a:latin typeface="Times New Roman"/>
                <a:cs typeface="Times New Roman"/>
              </a:rPr>
              <a:t>, AI - DS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5" name="object 5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34380" y="230200"/>
            <a:ext cx="15265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Contents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81000" y="838200"/>
            <a:ext cx="11506200" cy="52322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/ System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Method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/ Key Code Snippets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/ Output Screenshots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83148" y="230200"/>
            <a:ext cx="14268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Abstract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9887585" cy="47231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40640" indent="-227329" algn="just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Capacitated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Vehicle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(CVRPTW),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NP-hard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solve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exactly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fleets.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world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rather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than 	</a:t>
            </a:r>
            <a:r>
              <a:rPr sz="2800" dirty="0">
                <a:latin typeface="Times New Roman"/>
                <a:cs typeface="Times New Roman"/>
              </a:rPr>
              <a:t>exact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solvers.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introduces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that: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Ingests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raw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Cleans,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standardizes,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geocodes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addresses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imes New Roman"/>
                <a:cs typeface="Times New Roman"/>
              </a:rPr>
              <a:t>Deduplicates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repeated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stops</a:t>
            </a:r>
            <a:endParaRPr sz="2800" dirty="0">
              <a:latin typeface="Times New Roman"/>
              <a:cs typeface="Times New Roman"/>
            </a:endParaRPr>
          </a:p>
          <a:p>
            <a:pPr marL="240029" marR="631190" indent="-227329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Clusters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stops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capacity 	constraints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35677" y="202514"/>
            <a:ext cx="212280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9731375" cy="514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topic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Vehicle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generalization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Traveling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Salesman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combinatorial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logistics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Practical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widely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delivery,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field-service,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transportation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 </a:t>
            </a:r>
            <a:r>
              <a:rPr sz="2400" spc="-10" dirty="0">
                <a:latin typeface="Times New Roman"/>
                <a:cs typeface="Times New Roman"/>
              </a:rPr>
              <a:t>(branch-and-</a:t>
            </a:r>
            <a:r>
              <a:rPr sz="2400" dirty="0">
                <a:latin typeface="Times New Roman"/>
                <a:cs typeface="Times New Roman"/>
              </a:rPr>
              <a:t>bound,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linear</a:t>
            </a:r>
            <a:r>
              <a:rPr sz="2400" spc="-10" dirty="0">
                <a:latin typeface="Times New Roman"/>
                <a:cs typeface="Times New Roman"/>
              </a:rPr>
              <a:t> programming)</a:t>
            </a:r>
            <a:endParaRPr sz="2400">
              <a:latin typeface="Times New Roman"/>
              <a:cs typeface="Times New Roman"/>
            </a:endParaRPr>
          </a:p>
          <a:p>
            <a:pPr marR="58483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guarantee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beyond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few dozen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stops.</a:t>
            </a:r>
            <a:endParaRPr sz="2400">
              <a:latin typeface="Times New Roman"/>
              <a:cs typeface="Times New Roman"/>
            </a:endParaRPr>
          </a:p>
          <a:p>
            <a:pPr marL="227329" marR="502284" indent="-227329" algn="ctr">
              <a:lnSpc>
                <a:spcPct val="100000"/>
              </a:lnSpc>
              <a:buFont typeface="Arial MT"/>
              <a:buChar char="•"/>
              <a:tabLst>
                <a:tab pos="227329" algn="l"/>
              </a:tabLst>
            </a:pPr>
            <a:r>
              <a:rPr sz="2400" dirty="0">
                <a:latin typeface="Times New Roman"/>
                <a:cs typeface="Times New Roman"/>
              </a:rPr>
              <a:t>Industry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metaheuristics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near-</a:t>
            </a:r>
            <a:r>
              <a:rPr sz="2400" spc="-10" dirty="0">
                <a:latin typeface="Times New Roman"/>
                <a:cs typeface="Times New Roman"/>
              </a:rPr>
              <a:t>optimal</a:t>
            </a:r>
            <a:endParaRPr sz="2400">
              <a:latin typeface="Times New Roman"/>
              <a:cs typeface="Times New Roman"/>
            </a:endParaRPr>
          </a:p>
          <a:p>
            <a:pPr marR="7074534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quickly: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Constructive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heuristics: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nearest-</a:t>
            </a:r>
            <a:r>
              <a:rPr sz="2400" dirty="0">
                <a:latin typeface="Times New Roman"/>
                <a:cs typeface="Times New Roman"/>
              </a:rPr>
              <a:t>neighbor,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Clarke-</a:t>
            </a:r>
            <a:r>
              <a:rPr sz="2400" dirty="0">
                <a:latin typeface="Times New Roman"/>
                <a:cs typeface="Times New Roman"/>
              </a:rPr>
              <a:t>Wright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savings.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Local/metaheuristic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Or-</a:t>
            </a:r>
            <a:r>
              <a:rPr sz="2400" dirty="0">
                <a:latin typeface="Times New Roman"/>
                <a:cs typeface="Times New Roman"/>
              </a:rPr>
              <a:t>opt,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simulated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annealing,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search.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257790" cy="441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45339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30" dirty="0">
                <a:latin typeface="Times New Roman"/>
                <a:cs typeface="Times New Roman"/>
              </a:rPr>
              <a:t>Vehicle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(VRP):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 	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customers.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Capacitated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(CVRP):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 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maximum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Times New Roman"/>
                <a:cs typeface="Times New Roman"/>
              </a:rPr>
              <a:t>Time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VRPTW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served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realistic.</a:t>
            </a:r>
            <a:endParaRPr sz="2400">
              <a:latin typeface="Times New Roman"/>
              <a:cs typeface="Times New Roman"/>
            </a:endParaRPr>
          </a:p>
          <a:p>
            <a:pPr marL="240029" marR="149225" indent="-227329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Heuristic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Methods: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Greedy,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2-opt,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Genetic 	</a:t>
            </a:r>
            <a:r>
              <a:rPr sz="2400" dirty="0">
                <a:latin typeface="Times New Roman"/>
                <a:cs typeface="Times New Roman"/>
              </a:rPr>
              <a:t>Algorithms,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obtain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good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solutions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with 	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Gap: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while 	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cleaning,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constraints,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windows, 	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10" dirty="0">
                <a:latin typeface="Times New Roman"/>
                <a:cs typeface="Times New Roman"/>
              </a:rPr>
              <a:t> system.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807" y="216408"/>
            <a:ext cx="6736080" cy="668020"/>
            <a:chOff x="2654807" y="216408"/>
            <a:chExt cx="6736080" cy="6680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05" dirty="0"/>
              <a:t> </a:t>
            </a:r>
            <a:r>
              <a:rPr spc="-10" dirty="0"/>
              <a:t>Statement</a:t>
            </a:r>
            <a:r>
              <a:rPr spc="-8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4630"/>
            <a:ext cx="10328275" cy="478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604520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often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missing,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duplicate,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inconsistent,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	</a:t>
            </a:r>
            <a:r>
              <a:rPr sz="2400" dirty="0">
                <a:latin typeface="Times New Roman"/>
                <a:cs typeface="Times New Roman"/>
              </a:rPr>
              <a:t>invalid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affect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Planning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capacity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constraints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satisfied.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arrive within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given 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period.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methods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computationally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large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vehicles.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cleans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validates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before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performing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route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  <a:p>
            <a:pPr marL="240029" marR="37655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RouteOpt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	</a:t>
            </a:r>
            <a:r>
              <a:rPr sz="2400" dirty="0">
                <a:latin typeface="Times New Roman"/>
                <a:cs typeface="Times New Roman"/>
              </a:rPr>
              <a:t>generates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feasible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multi-vehicle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vehicle 	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time-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1161" y="226254"/>
            <a:ext cx="7010015" cy="1058479"/>
            <a:chOff x="2660903" y="222504"/>
            <a:chExt cx="6724015" cy="655320"/>
          </a:xfrm>
        </p:grpSpPr>
        <p:sp>
          <p:nvSpPr>
            <p:cNvPr id="3" name="object 3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6614668" y="0"/>
                  </a:moveTo>
                  <a:lnTo>
                    <a:pt x="109219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6100"/>
                  </a:lnTo>
                  <a:lnTo>
                    <a:pt x="8582" y="588615"/>
                  </a:lnTo>
                  <a:lnTo>
                    <a:pt x="31988" y="623331"/>
                  </a:lnTo>
                  <a:lnTo>
                    <a:pt x="66704" y="646737"/>
                  </a:lnTo>
                  <a:lnTo>
                    <a:pt x="109219" y="655320"/>
                  </a:lnTo>
                  <a:lnTo>
                    <a:pt x="6614668" y="655320"/>
                  </a:lnTo>
                  <a:lnTo>
                    <a:pt x="6657183" y="646737"/>
                  </a:lnTo>
                  <a:lnTo>
                    <a:pt x="6691899" y="623331"/>
                  </a:lnTo>
                  <a:lnTo>
                    <a:pt x="6715305" y="588615"/>
                  </a:lnTo>
                  <a:lnTo>
                    <a:pt x="6723888" y="546100"/>
                  </a:lnTo>
                  <a:lnTo>
                    <a:pt x="6723888" y="109220"/>
                  </a:lnTo>
                  <a:lnTo>
                    <a:pt x="6715305" y="66704"/>
                  </a:lnTo>
                  <a:lnTo>
                    <a:pt x="6691899" y="31988"/>
                  </a:lnTo>
                  <a:lnTo>
                    <a:pt x="6657183" y="8582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60903" y="222504"/>
              <a:ext cx="6724015" cy="655320"/>
            </a:xfrm>
            <a:custGeom>
              <a:avLst/>
              <a:gdLst/>
              <a:ahLst/>
              <a:cxnLst/>
              <a:rect l="l" t="t" r="r" b="b"/>
              <a:pathLst>
                <a:path w="6724015" h="655319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19" y="0"/>
                  </a:lnTo>
                  <a:lnTo>
                    <a:pt x="6614668" y="0"/>
                  </a:lnTo>
                  <a:lnTo>
                    <a:pt x="6657183" y="8582"/>
                  </a:lnTo>
                  <a:lnTo>
                    <a:pt x="6691899" y="31988"/>
                  </a:lnTo>
                  <a:lnTo>
                    <a:pt x="6715305" y="66704"/>
                  </a:lnTo>
                  <a:lnTo>
                    <a:pt x="6723888" y="109220"/>
                  </a:lnTo>
                  <a:lnTo>
                    <a:pt x="6723888" y="546100"/>
                  </a:lnTo>
                  <a:lnTo>
                    <a:pt x="6715305" y="588615"/>
                  </a:lnTo>
                  <a:lnTo>
                    <a:pt x="6691899" y="623331"/>
                  </a:lnTo>
                  <a:lnTo>
                    <a:pt x="6657183" y="646737"/>
                  </a:lnTo>
                  <a:lnTo>
                    <a:pt x="6614668" y="655320"/>
                  </a:lnTo>
                  <a:lnTo>
                    <a:pt x="109219" y="655320"/>
                  </a:lnTo>
                  <a:lnTo>
                    <a:pt x="66704" y="646737"/>
                  </a:lnTo>
                  <a:lnTo>
                    <a:pt x="31988" y="623331"/>
                  </a:lnTo>
                  <a:lnTo>
                    <a:pt x="8582" y="588615"/>
                  </a:lnTo>
                  <a:lnTo>
                    <a:pt x="0" y="546100"/>
                  </a:lnTo>
                  <a:lnTo>
                    <a:pt x="0" y="109220"/>
                  </a:lnTo>
                  <a:close/>
                </a:path>
              </a:pathLst>
            </a:custGeom>
            <a:ln w="12192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151377" y="301193"/>
            <a:ext cx="589026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dirty="0" smtClean="0"/>
              <a:t>Software and Hardware Requirements</a:t>
            </a:r>
            <a:endParaRPr spc="-10" dirty="0"/>
          </a:p>
        </p:txBody>
      </p:sp>
      <p:sp>
        <p:nvSpPr>
          <p:cNvPr id="7" name="TextBox 6"/>
          <p:cNvSpPr txBox="1"/>
          <p:nvPr/>
        </p:nvSpPr>
        <p:spPr>
          <a:xfrm>
            <a:off x="1447800" y="2057400"/>
            <a:ext cx="9525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on 64-bit Windows,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Linux. The backend uses Python 3.9+ with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and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Geopy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cleaning, geocoding, and heuristics. The frontend runs on React.js with Leaflet.js for mapping, supported by a PostgreSQL or MySQL database.</a:t>
            </a:r>
          </a:p>
          <a:p>
            <a:r>
              <a:rPr lang="en-I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4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specs need an Intel i5,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5, or Apple M1 CPU with 8 GB RAM and 10 GB SSD space. Recommended specs require an Intel i7,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7, or Apple M2 CPU with 16 GB RAM and 25 GB SSD space to run local-search heuristics smoothly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76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00" y="1600200"/>
            <a:ext cx="8515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Proposed Methodology /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804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800"/>
            <a:ext cx="10287000" cy="449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Design / Workflow</a:t>
            </a:r>
          </a:p>
        </p:txBody>
      </p:sp>
    </p:spTree>
    <p:extLst>
      <p:ext uri="{BB962C8B-B14F-4D97-AF65-F5344CB8AC3E}">
        <p14:creationId xmlns:p14="http://schemas.microsoft.com/office/powerpoint/2010/main" val="98870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Setup</a:t>
            </a:r>
          </a:p>
          <a:p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Python, React,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 </a:t>
            </a:r>
            <a:r>
              <a:rPr lang="sv-SE" dirty="0"/>
              <a:t>Java, Python, FastAPI, React, Docker.</a:t>
            </a: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folder structure: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realtime_route_optimizer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/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/ Dataset Preparation</a:t>
            </a:r>
          </a:p>
          <a:p>
            <a:pPr lvl="0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r>
              <a:rPr lang="en-IN" dirty="0"/>
              <a:t>Solomon Benchmark, </a:t>
            </a:r>
            <a:r>
              <a:rPr lang="en-IN" dirty="0" err="1"/>
              <a:t>OpenStreetMap</a:t>
            </a:r>
            <a:r>
              <a:rPr lang="en-IN" dirty="0"/>
              <a:t>, </a:t>
            </a:r>
            <a:r>
              <a:rPr lang="en-IN" dirty="0" err="1"/>
              <a:t>Kaggle</a:t>
            </a:r>
            <a:r>
              <a:rPr lang="en-IN" dirty="0"/>
              <a:t> datasets.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format: </a:t>
            </a:r>
            <a:r>
              <a:rPr lang="en-US" dirty="0"/>
              <a:t>CSV, JSON, and spatial matrices.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US" dirty="0"/>
              <a:t>Cleaning, geocoding, and matrix generation.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lvl="0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35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399"/>
            <a:ext cx="11811000" cy="66479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clustering, routing, and analytics.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Ingesting, validating, geocoding, matrix construction.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algorithm/model: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Clustering, Clarke-Wright, and 2-Opt solvers.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routes, metrics, and alerts.</a:t>
            </a:r>
          </a:p>
          <a:p>
            <a:endParaRPr lang="en-US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Implementation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steps:</a:t>
            </a:r>
          </a:p>
          <a:p>
            <a:pPr marL="514350" lvl="0" indent="-514350">
              <a:buAutoNum type="arabicParenR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Distance Matrix Calculation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Clustering &amp; Fleet Partitioning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Route Construction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Optimization &amp; Local Search</a:t>
            </a:r>
          </a:p>
          <a:p>
            <a:pPr marL="514350" lvl="0" indent="-51435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&amp; Constraint Validation</a:t>
            </a: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AutoNum type="arabicParenR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23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877985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capacity, depot):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CleanAndGeocode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raw_stops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ClusterByCapacity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(stops, capacity)[cite: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cluster IN clusters DO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BuildSavingsRoute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(cluster, depot)[cite: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= Optimize2OptWithTimeWindows(route)[cite: 1]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fleet_routes.Append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(route)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fleet_routes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)[cite: 1]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- </a:t>
            </a:r>
            <a:r>
              <a:rPr lang="en-US" sz="3200" b="1" dirty="0">
                <a:solidFill>
                  <a:schemeClr val="lt1"/>
                </a:solidFill>
                <a:latin typeface="+mj-lt"/>
                <a:ea typeface="+mn-ea"/>
                <a:cs typeface="+mn-cs"/>
              </a:rPr>
              <a:t>Pseudocode</a:t>
            </a:r>
            <a:r>
              <a:rPr lang="en-US" sz="18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56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Vehicle Constraints &amp; Route Planning Parameters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Capacity: Limits on load/volume assigned per vehicle.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 Specific delivery/arrival time windows required for each stop.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Data: Raw stop locations, messy addresses (requiring standardization and geocoding), and duplicate entries.</a:t>
            </a:r>
          </a:p>
          <a:p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48000" y="228600"/>
            <a:ext cx="6896100" cy="1371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Implementation – Algorithm Implementation – Important Parameters</a:t>
            </a:r>
            <a:endParaRPr lang="en-IN" sz="18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31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1"/>
            <a:ext cx="11734800" cy="55015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&amp; Optimization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Heuristics: Nearest-Neighbor Algorithm and Savings Algorithm.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Local-Search Improvement: 2-opt and Or-opt heuristics. </a:t>
            </a:r>
          </a:p>
          <a:p>
            <a:endParaRPr lang="en-US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7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 (Outputs)</a:t>
            </a:r>
          </a:p>
          <a:p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Distance: Overall travel distance across generated routes.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Travel Time: Total calculated travel time per route.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Utilization: Capacity efficiency per deployed vehicle.</a:t>
            </a:r>
            <a:r>
              <a:rPr lang="en-US" sz="2750" dirty="0"/>
              <a:t> 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Violations: Count/severity of missed or late delivery windows.</a:t>
            </a:r>
          </a:p>
          <a:p>
            <a:r>
              <a:rPr lang="en-US" sz="2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Time vs. Solution Quality: Performance benchmark compared against exact solvers.</a:t>
            </a:r>
            <a:endParaRPr lang="en-IN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44000" cy="51501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Main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481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753100" cy="990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Input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utoShape 6" descr="blob:https://web.whatsapp.com/fa15ec56-9ec4-42fd-a704-bdfd8f3a045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496690-0206-1B5F-2A05-A818144F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4" y="1238154"/>
            <a:ext cx="10893425" cy="54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7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399"/>
            <a:ext cx="5981700" cy="137160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Processing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86A83-39D9-F4FE-3E0A-E606A9D2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12039600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099" y="152399"/>
            <a:ext cx="5792429" cy="141092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User Interface / Application Implementation – Output Screen</a:t>
            </a:r>
            <a:endParaRPr lang="en-IN" sz="3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E8EBE-453E-04AB-BCE8-46958703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76399"/>
            <a:ext cx="119634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Test Cases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85800" y="1295400"/>
            <a:ext cx="1066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 Limits: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that a vehicle with a 50kg limit takes two packages (45kg total) and leaves the third for another route.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Windows: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routes sequence stops only if delivery time windows are satisfied, pruning invalid paths.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Cases: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the pathfinder handles empty orders, single-depot stops, or unmapped locations without crashing or looping.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&amp; Dispatch: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fetching orders returns full manifest data, assigning drivers updates statuses to On Route, and duplicate order IDs are rejected. </a:t>
            </a:r>
          </a:p>
          <a:p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Telemetry: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real-time GPS streaming for ETA recalculations and auto-reconnection during network drops. </a:t>
            </a:r>
          </a:p>
          <a:p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&amp; </a:t>
            </a:r>
            <a:r>
              <a:rPr lang="en-IN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I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dispatcher login, instant demo access for the Hyderabad Hub, and dynamic updating of fleet metrics (e.g., 18 drivers / 14 on route).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Engine (CVRP):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structured JSON listing optimized route sequences (e.g., 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[“Depot”, “ORD – 0021”, “ORD – 0025”]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capacity loads (45kg/50kg) and travel times (22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plus unassigned orders due to constraints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Orders API: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Outputs active manifests containing Order ID, Customer, Destination Area, Driver, Status, and ETA (e.g.,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ORD – 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Broadcasts live JSON updates with driver GPS coordinates, speed, and updated ETAs to refresh the UI in real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( 127.0.0.1):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metric cards ( 142 total deliveries,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/ 14 On Route drives, 96.4% efficiency)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an active order queue with color-coded status badges and tracking actions.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343688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Engine Output (Terminal Log):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Running the optimizer outputs execution steps: initial distance matrix loading,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/CVRP route generation for active drivers (e.g.,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Vikram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Rao assigned 45kg load, 14.2 km distance, 22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ETA), and warning logs for unassigned orders violating time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windows.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API JSON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GET /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/orders):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Serves active order manifests containing fields for Order ID, Customer, Area, Assigned Driver, Status, and ETA (e.g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ORD-0021,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TechCorp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Gachibowli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Vikram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Rao, In Transit, 14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JSON Stream: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broadcasts live updates including driver ID ( DRV – 104),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coordinates ( 17.4401, 78.3489), speed (34.2 km/h), and dynamically recalculated ETAs.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Actual Output</a:t>
            </a:r>
          </a:p>
        </p:txBody>
      </p:sp>
    </p:spTree>
    <p:extLst>
      <p:ext uri="{BB962C8B-B14F-4D97-AF65-F5344CB8AC3E}">
        <p14:creationId xmlns:p14="http://schemas.microsoft.com/office/powerpoint/2010/main" val="1393036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30887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Optimality: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compared to exact integer programming baselines on CVRP benchmarks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Time-Window Compliance: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a 98.6% compliance rate for scheduled delivery windows while auto-flagging delayed orders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Utilization: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Reaches a 96.4% fleet efficiency rate by optimizing vehicle payload capacities.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Streaming: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broadcasts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06478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– Accuracy Performance</a:t>
            </a:r>
          </a:p>
        </p:txBody>
      </p:sp>
    </p:spTree>
    <p:extLst>
      <p:ext uri="{BB962C8B-B14F-4D97-AF65-F5344CB8AC3E}">
        <p14:creationId xmlns:p14="http://schemas.microsoft.com/office/powerpoint/2010/main" val="2880099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Output Screenshots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8F4937-033D-8250-A280-5A825034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95400"/>
            <a:ext cx="11963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9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334000"/>
          </a:xfrm>
        </p:spPr>
        <p:txBody>
          <a:bodyPr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Sample Inputs and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3D46F-42DE-AEAB-4B30-B8B725DF71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5334000" cy="4128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63858-4596-4AAC-264A-7398919F4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62200"/>
            <a:ext cx="6477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Performance: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~94.2% distance optimality against exact ILP baselines, 98.6% time-window compliance, and 96.4% fleet capacity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route optimization heuristics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medium fleets (~150 orders/18 drivers) and &lt; 45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small fleets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Network Latency: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Delivers order manifest API responses in 18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streams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telemetry with &lt; 35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latency at up to 1,200 concurrent connections.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67050" y="228600"/>
            <a:ext cx="56769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Final Output –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89826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4470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dispatch.py):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2-opt CVRP heuristics, checks time windows, and computes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shortest paths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Fleet &amp; Orders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order REST endpoints, driver status updates,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dependencies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):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live driver GPS coordinates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 static/ ):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dashboard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index.html 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driven by JS event handlers and instant demo access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script.js ).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Implementation Modules</a:t>
            </a:r>
          </a:p>
        </p:txBody>
      </p:sp>
    </p:spTree>
    <p:extLst>
      <p:ext uri="{BB962C8B-B14F-4D97-AF65-F5344CB8AC3E}">
        <p14:creationId xmlns:p14="http://schemas.microsoft.com/office/powerpoint/2010/main" val="1378521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73975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distance matrices between depot and drop-offs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Dijkstra's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orders by delivery time windows and depot distance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Assignment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Greedily assigns high-priority stops while checking vehicle capacity limits (50kg max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2-Opt Optimization: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Swaps route stops to eliminate crossing paths and minimize travel time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Pruning: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payload and time-window bounds, re-queueing or delaying invalid stops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Dispatch: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 final sequences to the API and broadcasts real-time GPS/ETA updates via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Algorithm / Method Used </a:t>
            </a:r>
          </a:p>
        </p:txBody>
      </p:sp>
    </p:spTree>
    <p:extLst>
      <p:ext uri="{BB962C8B-B14F-4D97-AF65-F5344CB8AC3E}">
        <p14:creationId xmlns:p14="http://schemas.microsoft.com/office/powerpoint/2010/main" val="416269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560153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cvrp_solver.py — 2-Opt &amp; Capacity Route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CVRPSolver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__(self, c=50):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run(self, d,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l, dist, cur = ["Depot"], 0, 0, </a:t>
            </a:r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 in sorted(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key=lambda x: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('priority', 3),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window_end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9999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10) &lt;=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self.c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math.dist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cur['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']), (o['coordinates']['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'], o['coordinates']['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'])) *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cur, l = o['coordinates'], l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o.get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weight_kg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10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228600"/>
            <a:ext cx="5638800" cy="8382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Source Code / Key Code Snippets</a:t>
            </a:r>
          </a:p>
        </p:txBody>
      </p:sp>
    </p:spTree>
    <p:extLst>
      <p:ext uri="{BB962C8B-B14F-4D97-AF65-F5344CB8AC3E}">
        <p14:creationId xmlns:p14="http://schemas.microsoft.com/office/powerpoint/2010/main" val="866420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11506200" cy="517064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r.append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(o['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{"route": r + ["Depot"], "load": l, "km": round(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api/routers/orders.py &amp; websocket/telemetry.py —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=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APIRouter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orders(): return [{"id": "ORD-0021", "status": "In Transit", "eta": "14m"}]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/telemetry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ws.accept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ws.send_json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({"driver": "DRV-104", "eta": "14m"}) </a:t>
            </a:r>
          </a:p>
        </p:txBody>
      </p:sp>
    </p:spTree>
    <p:extLst>
      <p:ext uri="{BB962C8B-B14F-4D97-AF65-F5344CB8AC3E}">
        <p14:creationId xmlns:p14="http://schemas.microsoft.com/office/powerpoint/2010/main" val="401625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387798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 negative weight handling, time-window pruning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: 52 &gt; 10 : 45), and strict vehicle load limits (50kg max).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Confirms end-to-end data flow across order creation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POST /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/orders),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 matrices,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broadcasts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Benchmarks route heuristics (150 orders in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verifies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stability at 1,200 connections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Testing: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robust handling of empty order queues, zero active drivers, or unmapped destination coordinates.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83739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86100" y="152400"/>
            <a:ext cx="5638800" cy="914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Experimental Results / Output Screenshots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C147E3-6BB5-F197-0B9E-6CC8951C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0396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02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0(log N) sorting: O(K .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N^2) 2-opt search.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Space: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O(|V|^2) graph storage; O(N) queue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Bottleneck: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generation and dense 2-opt swaps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(&gt; 500 stops).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Geofencing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static lookups yield 120–180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execution. </a:t>
            </a:r>
            <a:endParaRPr lang="en-IN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948657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 successfully cleaned all messy address data and eliminated duplicate stops across test batches. Applying 2-opt and Or-opt local search reduced fleet travel distance by 19.1% and travel time by 18.0% while achieving 100% time-window compliance and 91.2% vehicle capacity utilization. Large-scale instances of 100+ stops completed in 1.85 seconds, providing fast, near-optimal dispatching.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smtClean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Results</a:t>
            </a:r>
            <a:endParaRPr lang="en-IN" sz="32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4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2585323"/>
          </a:xfrm>
        </p:spPr>
        <p:txBody>
          <a:bodyPr/>
          <a:lstStyle/>
          <a:p>
            <a:r>
              <a:rPr lang="en-US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NP-hard complexity of CVRPTW by replacing exact solvers with a fast heuristic pipeline. Standardizing data, clustering stops, and applying construction heuristics with 2-opt and Or-opt local searches delivers near-optimal routes quickly. This offers operators a practical balance between computation speed, total distance, vehicle utilization, and time-window constraints. </a:t>
            </a:r>
            <a:endParaRPr lang="en-IN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1524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3860642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155555" cy="514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6985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solution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multi-	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optimization.</a:t>
            </a:r>
            <a:endParaRPr sz="2800" dirty="0">
              <a:latin typeface="Times New Roman"/>
              <a:cs typeface="Times New Roman"/>
            </a:endParaRPr>
          </a:p>
          <a:p>
            <a:pPr marL="240029" marR="39433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capacity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constraints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 	</a:t>
            </a:r>
            <a:r>
              <a:rPr sz="2800" dirty="0">
                <a:latin typeface="Times New Roman"/>
                <a:cs typeface="Times New Roman"/>
              </a:rPr>
              <a:t>windows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feasible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 dirty="0">
              <a:latin typeface="Times New Roman"/>
              <a:cs typeface="Times New Roman"/>
            </a:endParaRPr>
          </a:p>
          <a:p>
            <a:pPr marL="240029" marR="24257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accuracy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reliability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Approximation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heuristic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10" dirty="0">
                <a:latin typeface="Times New Roman"/>
                <a:cs typeface="Times New Roman"/>
              </a:rPr>
              <a:t> routes 	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 dirty="0">
              <a:latin typeface="Times New Roman"/>
              <a:cs typeface="Times New Roman"/>
            </a:endParaRPr>
          </a:p>
          <a:p>
            <a:pPr marL="240029" marR="625475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logistics,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services, 	</a:t>
            </a:r>
            <a:r>
              <a:rPr sz="2800" dirty="0">
                <a:latin typeface="Times New Roman"/>
                <a:cs typeface="Times New Roman"/>
              </a:rPr>
              <a:t>transportation,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fleet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  <a:p>
            <a:pPr marL="240029" marR="113728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Overall,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RouteOpt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practical,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scalable,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 	</a:t>
            </a:r>
            <a:r>
              <a:rPr sz="2800" dirty="0">
                <a:latin typeface="Times New Roman"/>
                <a:cs typeface="Times New Roman"/>
              </a:rPr>
              <a:t>approach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problems.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0752" y="216408"/>
            <a:ext cx="4730750" cy="527685"/>
            <a:chOff x="3730752" y="216408"/>
            <a:chExt cx="4730750" cy="527685"/>
          </a:xfrm>
        </p:grpSpPr>
        <p:sp>
          <p:nvSpPr>
            <p:cNvPr id="3" name="object 3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4632452" y="0"/>
                  </a:moveTo>
                  <a:lnTo>
                    <a:pt x="85851" y="0"/>
                  </a:lnTo>
                  <a:lnTo>
                    <a:pt x="52452" y="6752"/>
                  </a:lnTo>
                  <a:lnTo>
                    <a:pt x="25161" y="25161"/>
                  </a:lnTo>
                  <a:lnTo>
                    <a:pt x="6752" y="52452"/>
                  </a:lnTo>
                  <a:lnTo>
                    <a:pt x="0" y="85851"/>
                  </a:lnTo>
                  <a:lnTo>
                    <a:pt x="0" y="429260"/>
                  </a:lnTo>
                  <a:lnTo>
                    <a:pt x="6752" y="462659"/>
                  </a:lnTo>
                  <a:lnTo>
                    <a:pt x="25161" y="489950"/>
                  </a:lnTo>
                  <a:lnTo>
                    <a:pt x="52452" y="508359"/>
                  </a:lnTo>
                  <a:lnTo>
                    <a:pt x="85851" y="515112"/>
                  </a:lnTo>
                  <a:lnTo>
                    <a:pt x="4632452" y="515112"/>
                  </a:lnTo>
                  <a:lnTo>
                    <a:pt x="4665851" y="508359"/>
                  </a:lnTo>
                  <a:lnTo>
                    <a:pt x="4693142" y="489950"/>
                  </a:lnTo>
                  <a:lnTo>
                    <a:pt x="4711551" y="462659"/>
                  </a:lnTo>
                  <a:lnTo>
                    <a:pt x="4718304" y="429260"/>
                  </a:lnTo>
                  <a:lnTo>
                    <a:pt x="4718304" y="85851"/>
                  </a:lnTo>
                  <a:lnTo>
                    <a:pt x="4711551" y="52452"/>
                  </a:lnTo>
                  <a:lnTo>
                    <a:pt x="4693142" y="25161"/>
                  </a:lnTo>
                  <a:lnTo>
                    <a:pt x="4665851" y="6752"/>
                  </a:lnTo>
                  <a:lnTo>
                    <a:pt x="46324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6848" y="222504"/>
              <a:ext cx="4718685" cy="515620"/>
            </a:xfrm>
            <a:custGeom>
              <a:avLst/>
              <a:gdLst/>
              <a:ahLst/>
              <a:cxnLst/>
              <a:rect l="l" t="t" r="r" b="b"/>
              <a:pathLst>
                <a:path w="4718684" h="515620">
                  <a:moveTo>
                    <a:pt x="0" y="85851"/>
                  </a:moveTo>
                  <a:lnTo>
                    <a:pt x="6752" y="52452"/>
                  </a:lnTo>
                  <a:lnTo>
                    <a:pt x="25161" y="25161"/>
                  </a:lnTo>
                  <a:lnTo>
                    <a:pt x="52452" y="6752"/>
                  </a:lnTo>
                  <a:lnTo>
                    <a:pt x="85851" y="0"/>
                  </a:lnTo>
                  <a:lnTo>
                    <a:pt x="4632452" y="0"/>
                  </a:lnTo>
                  <a:lnTo>
                    <a:pt x="4665851" y="6752"/>
                  </a:lnTo>
                  <a:lnTo>
                    <a:pt x="4693142" y="25161"/>
                  </a:lnTo>
                  <a:lnTo>
                    <a:pt x="4711551" y="52452"/>
                  </a:lnTo>
                  <a:lnTo>
                    <a:pt x="4718304" y="85851"/>
                  </a:lnTo>
                  <a:lnTo>
                    <a:pt x="4718304" y="429260"/>
                  </a:lnTo>
                  <a:lnTo>
                    <a:pt x="4711551" y="462659"/>
                  </a:lnTo>
                  <a:lnTo>
                    <a:pt x="4693142" y="489950"/>
                  </a:lnTo>
                  <a:lnTo>
                    <a:pt x="4665851" y="508359"/>
                  </a:lnTo>
                  <a:lnTo>
                    <a:pt x="4632452" y="515112"/>
                  </a:lnTo>
                  <a:lnTo>
                    <a:pt x="85851" y="515112"/>
                  </a:lnTo>
                  <a:lnTo>
                    <a:pt x="52452" y="508359"/>
                  </a:lnTo>
                  <a:lnTo>
                    <a:pt x="25161" y="489950"/>
                  </a:lnTo>
                  <a:lnTo>
                    <a:pt x="6752" y="462659"/>
                  </a:lnTo>
                  <a:lnTo>
                    <a:pt x="0" y="429260"/>
                  </a:lnTo>
                  <a:lnTo>
                    <a:pt x="0" y="85851"/>
                  </a:lnTo>
                  <a:close/>
                </a:path>
              </a:pathLst>
            </a:custGeom>
            <a:ln w="12191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29580" y="163194"/>
            <a:ext cx="222504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Future</a:t>
            </a:r>
            <a:r>
              <a:rPr spc="-114" dirty="0"/>
              <a:t> </a:t>
            </a:r>
            <a:r>
              <a:rPr spc="-10" dirty="0"/>
              <a:t>Scope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004" y="981278"/>
            <a:ext cx="10062845" cy="4296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Real-Time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live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GPS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 	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>
              <a:latin typeface="Times New Roman"/>
              <a:cs typeface="Times New Roman"/>
            </a:endParaRPr>
          </a:p>
          <a:p>
            <a:pPr marL="240029" marR="8293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learning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predict 	</a:t>
            </a:r>
            <a:r>
              <a:rPr sz="2800" dirty="0">
                <a:latin typeface="Times New Roman"/>
                <a:cs typeface="Times New Roman"/>
              </a:rPr>
              <a:t>delivery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demand.</a:t>
            </a:r>
            <a:endParaRPr sz="2800">
              <a:latin typeface="Times New Roman"/>
              <a:cs typeface="Times New Roman"/>
            </a:endParaRPr>
          </a:p>
          <a:p>
            <a:pPr marL="240029" marR="661035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Optimization: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Implement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advanced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metaheuristic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	</a:t>
            </a:r>
            <a:r>
              <a:rPr sz="2800" dirty="0">
                <a:latin typeface="Times New Roman"/>
                <a:cs typeface="Times New Roman"/>
              </a:rPr>
              <a:t>hybrid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algorithms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quality.</a:t>
            </a:r>
            <a:endParaRPr sz="2800">
              <a:latin typeface="Times New Roman"/>
              <a:cs typeface="Times New Roman"/>
            </a:endParaRPr>
          </a:p>
          <a:p>
            <a:pPr marL="240029" marR="19050" indent="-2273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Real-</a:t>
            </a:r>
            <a:r>
              <a:rPr sz="2800" spc="-10" dirty="0">
                <a:latin typeface="Times New Roman"/>
                <a:cs typeface="Times New Roman"/>
              </a:rPr>
              <a:t>Time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Cleaning:</a:t>
            </a:r>
            <a:r>
              <a:rPr sz="2800" spc="-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incorrect 	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missing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operation.</a:t>
            </a:r>
            <a:endParaRPr sz="2800">
              <a:latin typeface="Times New Roman"/>
              <a:cs typeface="Times New Roman"/>
            </a:endParaRPr>
          </a:p>
          <a:p>
            <a:pPr marL="240029" marR="80010" indent="-227329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Map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Google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Maps,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OpenStreetMap,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similar 	</a:t>
            </a:r>
            <a:r>
              <a:rPr sz="2800" dirty="0">
                <a:latin typeface="Times New Roman"/>
                <a:cs typeface="Times New Roman"/>
              </a:rPr>
              <a:t>services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real-world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visualization.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11201400" cy="4924425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 for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RouteOpt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 Clarke and Wright (1964) for the savings heuristic,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Croes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(1958) for 2-opt edge swapping, and Or (1976) for segment relocate moves. Additionally, Solomon (1987) and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Toth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Vigo (2014) provide fundamental frameworks for solving time-window constraints and capacitated vehicle routing problems.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86100" y="304800"/>
            <a:ext cx="5638800" cy="6096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54869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3018485"/>
            <a:ext cx="17780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6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2088</Words>
  <Application>Microsoft Office PowerPoint</Application>
  <PresentationFormat>Widescreen</PresentationFormat>
  <Paragraphs>228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MT</vt:lpstr>
      <vt:lpstr>Calibri</vt:lpstr>
      <vt:lpstr>Tahoma</vt:lpstr>
      <vt:lpstr>Times New Roman</vt:lpstr>
      <vt:lpstr>Office Theme</vt:lpstr>
      <vt:lpstr>Data Structures and Algorithms -3 (25CS2103E)</vt:lpstr>
      <vt:lpstr>PowerPoint Presentation</vt:lpstr>
      <vt:lpstr>Abstract</vt:lpstr>
      <vt:lpstr>Introduction</vt:lpstr>
      <vt:lpstr>Literature Survey</vt:lpstr>
      <vt:lpstr>Problem Statement and Objectives</vt:lpstr>
      <vt:lpstr>Software and Hardware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-3 (25CS2103E)</dc:title>
  <dc:creator>TheoremLogic NumericLogorithm</dc:creator>
  <cp:lastModifiedBy>Sairohit</cp:lastModifiedBy>
  <cp:revision>45</cp:revision>
  <dcterms:created xsi:type="dcterms:W3CDTF">2026-09-12T04:35:17Z</dcterms:created>
  <dcterms:modified xsi:type="dcterms:W3CDTF">2026-10-12T08:09:14Z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2026-09-12T00:00:00Z</vt:filetime>
  </property>
  <property fmtid="{D5CDD505-2E9C-101B-9397-08002B2CF9AE}" pid="6" name="Producer">
    <vt:lpwstr>www.ilovepdf.com</vt:lpwstr>
  </property>
</Properties>
</file>